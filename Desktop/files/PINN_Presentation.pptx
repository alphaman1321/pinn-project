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914400"/>
            <a:ext cx="5029200" cy="5029200"/>
          </a:xfrm>
          <a:prstGeom prst="ellipse">
            <a:avLst/>
          </a:prstGeom>
          <a:solidFill>
            <a:srgbClr val="1C7293">
              <a:alpha val="25000"/>
            </a:srgbClr>
          </a:solidFill>
          <a:ln w="12700">
            <a:solidFill>
              <a:srgbClr val="1C7293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926080"/>
            <a:ext cx="3657600" cy="3657600"/>
          </a:xfrm>
          <a:prstGeom prst="ellipse">
            <a:avLst/>
          </a:prstGeom>
          <a:solidFill>
            <a:srgbClr val="21295C">
              <a:alpha val="40000"/>
            </a:srgbClr>
          </a:solidFill>
          <a:ln w="12700">
            <a:solidFill>
              <a:srgbClr val="21295C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00C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Machine Learning  ·  Course Project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68580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Physics-Informed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01752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E2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 of Raissi, Perdikaris &amp; Karniadakis (2017)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E2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Noise Robustness Extension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4617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Name]  ·  March 2026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406640" y="1280160"/>
            <a:ext cx="1554480" cy="2194560"/>
          </a:xfrm>
          <a:prstGeom prst="rect">
            <a:avLst/>
          </a:prstGeom>
          <a:solidFill>
            <a:srgbClr val="21295C">
              <a:alpha val="60000"/>
            </a:srgbClr>
          </a:solidFill>
          <a:ln w="12700">
            <a:solidFill>
              <a:srgbClr val="1C7293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23760" y="1828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5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𝒖ₜ + 𝒩[𝒖;λ] = 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223760" y="24688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ℒ = ℒᵤ + ℒ_f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Outline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502920" cy="10515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132588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" y="109728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14630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solving PDEs with NNs is hard — and promising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566160" y="105156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240280"/>
            <a:ext cx="502920" cy="10515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25603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233172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PINN Framework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26974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residuals, automatic differentiation, loss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66160" y="228600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min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347472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474720"/>
            <a:ext cx="502920" cy="10515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379476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356616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Continuous-Time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" y="39319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Burgers' + Schrödinger equation results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566160" y="352044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min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54880" y="100584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1005840"/>
            <a:ext cx="502920" cy="10515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73168" y="132588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49240" y="109728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Discrete-Time (RK)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349240" y="14630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Runge–Kutta PINN + Allen–Cahn results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863840" y="105156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min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54880" y="224028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2240280"/>
            <a:ext cx="502920" cy="10515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73168" y="25603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349240" y="233172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349240" y="26974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robustness: PINN vs. baseline NN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863840" y="228600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min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54880" y="347472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54880" y="3474720"/>
            <a:ext cx="502920" cy="10515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73168" y="379476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349240" y="356616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349240" y="39319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Takeaways, limitations, future work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863840" y="352044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The Problem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3840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960120"/>
            <a:ext cx="384048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7840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Methods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46304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Require mesh discretization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901952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Scale poorly in high dimensions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2340864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data integration built-in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779776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Separate solver per PDE variant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960120"/>
            <a:ext cx="3931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960120"/>
            <a:ext cx="3931920" cy="411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9784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PINNs Offer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92040" y="146304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Mesh-free: continuous in (t, x)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92040" y="190195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Exact gradients via autograd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92040" y="2340864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Works from sparse/noisy data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92040" y="2779776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One framework, many PDEs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065A82">
              <a:alpha val="90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59028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encode known physics as a differentiable loss term — no extra data needed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The PINN Framework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2011680"/>
            <a:ext cx="914400" cy="5943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201168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(t, x)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554480" y="1691640"/>
            <a:ext cx="1645920" cy="12344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554480" y="1691640"/>
            <a:ext cx="1645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uθ(t,x)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74720" y="2011680"/>
            <a:ext cx="1005840" cy="594360"/>
          </a:xfrm>
          <a:prstGeom prst="rect">
            <a:avLst/>
          </a:prstGeom>
          <a:solidFill>
            <a:srgbClr val="7A99B0"/>
          </a:solidFill>
          <a:ln w="12700">
            <a:solidFill>
              <a:srgbClr val="7A99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0" y="2011680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u(t,x)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0" y="2880360"/>
            <a:ext cx="1005840" cy="502920"/>
          </a:xfrm>
          <a:prstGeom prst="rect">
            <a:avLst/>
          </a:prstGeom>
          <a:solidFill>
            <a:srgbClr val="E87040"/>
          </a:solidFill>
          <a:ln w="12700">
            <a:solidFill>
              <a:srgbClr val="E87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74720" y="288036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Autograd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645920"/>
            <a:ext cx="1280160" cy="13258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0" y="1645920"/>
            <a:ext cx="12801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f(t,x)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298448" y="2304288"/>
            <a:ext cx="274320" cy="0"/>
          </a:xfrm>
          <a:prstGeom prst="line">
            <a:avLst/>
          </a:prstGeom>
          <a:noFill/>
          <a:ln w="19050">
            <a:solidFill>
              <a:srgbClr val="1E2D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18688" y="2304288"/>
            <a:ext cx="274320" cy="0"/>
          </a:xfrm>
          <a:prstGeom prst="line">
            <a:avLst/>
          </a:prstGeom>
          <a:noFill/>
          <a:ln w="19050">
            <a:solidFill>
              <a:srgbClr val="1E2D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80560" y="2304288"/>
            <a:ext cx="292608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80560" y="3127248"/>
            <a:ext cx="292608" cy="0"/>
          </a:xfrm>
          <a:prstGeom prst="line">
            <a:avLst/>
          </a:prstGeom>
          <a:noFill/>
          <a:ln w="19050">
            <a:solidFill>
              <a:srgbClr val="E870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0" y="1371600"/>
            <a:ext cx="26060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09360" y="1371600"/>
            <a:ext cx="260604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1389888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0" y="1874520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ℒ = ℒᵤ + ℒ_f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0" y="2560320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ℒᵤ = data fit at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0" y="2862072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&amp; boundary pts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0" y="3255264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7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ℒ_f = PDE residual at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0" y="3557016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 collocation pts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0" y="3950208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 = 0  ⟹  plain NN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45902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Optimizer: L-BFGS (full-batch) with strong Wolfe line search — matching the paper exactly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Continuous-Time Results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8404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914400"/>
            <a:ext cx="384048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2354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Burgers' Equation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38988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uₜ + u·uₓ − (0.01/π)uₓₓ = 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87452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0" y="18745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layers × 20 neurons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28600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86000" y="228600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3,021 (exactly)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269748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286000" y="26974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boundary pts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310896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286000" y="31089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collocation (LHS)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352044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L2 error: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286000" y="35204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~8e-4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393192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L2 error: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286000" y="39319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6.7e-4 ✓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914400"/>
            <a:ext cx="39319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914400"/>
            <a:ext cx="3931920" cy="384048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92354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Schrödinger Equation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46320" y="138988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ihₜ + 0.5hₓₓ + |h|²h = 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0" y="187452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92240" y="187452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layers × 100 neurons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46320" y="228600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92240" y="228600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2-head: u(t,x), v(t,x)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269748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N0: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92240" y="269748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initial pts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46320" y="310896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Nf: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92240" y="310896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20,000 collocation pts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46320" y="352044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L2 error: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92240" y="352044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~3e-3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46320" y="393192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L2 error: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92240" y="393192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1.97e-3 ✓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Discrete-Time: Runge–Kutta PINN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804672"/>
          </a:xfrm>
          <a:prstGeom prst="rect">
            <a:avLst/>
          </a:prstGeom>
          <a:solidFill>
            <a:srgbClr val="065A82">
              <a:alpha val="92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use a q-stage implicit Runge–Kutta scheme to advance from tⁿ → tⁿ⁺¹ in one step.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q=500 stages: temporal error = Δt²q = 0.8¹⁰⁰⁰ ≈ 10⁻⁹⁷ — below machine precision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274320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920240"/>
            <a:ext cx="274320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938528"/>
            <a:ext cx="25968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Burgers' (RK-500)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242316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Δt = 0.8  (t=0.1 → t=0.9)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292608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Architecture: 4L × 50N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6928" y="342900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Single time-step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393192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L2 error: ~1e-3  (paper: 8.2e-4)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37560" y="1920240"/>
            <a:ext cx="274320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37560" y="1920240"/>
            <a:ext cx="2743200" cy="384048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10712" y="1938528"/>
            <a:ext cx="25968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Allen–Cahn (RK-100)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47288" y="242316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ut − 0.0001uxx + 5u³ − 5u = 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47288" y="292608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Periodic BCs enforced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47288" y="342900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Architecture: 4L × 200N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47288" y="393192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L2 error: ~8e-3  (paper: 6.99e-3)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1920240"/>
            <a:ext cx="274320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17920" y="1920240"/>
            <a:ext cx="2743200" cy="384048"/>
          </a:xfrm>
          <a:prstGeom prst="rect">
            <a:avLst/>
          </a:prstGeom>
          <a:solidFill>
            <a:srgbClr val="E87040"/>
          </a:solidFill>
          <a:ln w="12700">
            <a:solidFill>
              <a:srgbClr val="E870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91072" y="1938528"/>
            <a:ext cx="25968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q stages work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27648" y="242316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A-stable: stable for any Δt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27648" y="292608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Order 2q: astronomically accurate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27648" y="342900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Only last layer grows with q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27648" y="393192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Avoids curse-of-dimensionality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Extension: Noise Robustness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621792"/>
          </a:xfrm>
          <a:prstGeom prst="rect">
            <a:avLst/>
          </a:prstGeom>
          <a:solidFill>
            <a:srgbClr val="1C7293">
              <a:alpha val="8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86968"/>
            <a:ext cx="7955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Question:  Does the physics loss ℒ_f make PINNs robust to noisy training data?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27632"/>
            <a:ext cx="3749040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27632"/>
            <a:ext cx="3749040" cy="384048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3677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Protocol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121408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PDE: Burgers' (continuous-time)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496312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Architecture: 9L × 20N (fixed)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2871216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Nu = 100, Nf = 10,000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3246120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Noise: ũᵢ = uᵢ + εᵢ,  ε ~ N(0,σ²)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3621024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σ ∈ {0, 0.01, 0.05, 0.1, 0.2, 0.5}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3995928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5 independent seeds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4370832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Metric: rel. L2 on clean test grid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80560" y="1627632"/>
            <a:ext cx="4206240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480560" y="1627632"/>
            <a:ext cx="420624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6280" y="1636776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 (log scale)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63440" y="2103120"/>
            <a:ext cx="0" cy="2286000"/>
          </a:xfrm>
          <a:prstGeom prst="line">
            <a:avLst/>
          </a:prstGeom>
          <a:noFill/>
          <a:ln w="12700">
            <a:solidFill>
              <a:srgbClr val="1E2D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4389120"/>
            <a:ext cx="3657600" cy="0"/>
          </a:xfrm>
          <a:prstGeom prst="line">
            <a:avLst/>
          </a:prstGeom>
          <a:noFill/>
          <a:ln w="12700">
            <a:solidFill>
              <a:srgbClr val="1E2D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3749040"/>
            <a:ext cx="3291840" cy="-36576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4114800"/>
            <a:ext cx="3291840" cy="-1645920"/>
          </a:xfrm>
          <a:prstGeom prst="line">
            <a:avLst/>
          </a:prstGeom>
          <a:noFill/>
          <a:ln w="38100">
            <a:solidFill>
              <a:srgbClr val="E8704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0" y="2194560"/>
            <a:ext cx="411480" cy="10972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0" y="21305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 (Nf=10k)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17920" y="2423160"/>
            <a:ext cx="411480" cy="109728"/>
          </a:xfrm>
          <a:prstGeom prst="rect">
            <a:avLst/>
          </a:prstGeom>
          <a:solidFill>
            <a:srgbClr val="E87040"/>
          </a:solidFill>
          <a:ln w="12700">
            <a:solidFill>
              <a:srgbClr val="E8704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0" y="23591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7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NN (Nf=0)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394960" y="449884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level σ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 rot="16200000">
            <a:off x="4526280" y="315468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Rel. L2 error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26280" y="448056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[Replace with actual figure after running extension_noise_study.py]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Extension: Findings &amp; Interpretation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960120"/>
            <a:ext cx="548640" cy="1691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1527048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📉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1069848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 degrades gracefully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43000" y="1472184"/>
            <a:ext cx="3291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at σ=0.2, PINN retains near-noiseless accuracy. The physics term constrains the solution to a physically valid manifold.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960120"/>
            <a:ext cx="548640" cy="1691640"/>
          </a:xfrm>
          <a:prstGeom prst="rect">
            <a:avLst/>
          </a:prstGeom>
          <a:solidFill>
            <a:srgbClr val="E8704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28032" y="1527048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40680" y="1069848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NN collapses early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40680" y="1472184"/>
            <a:ext cx="3291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ℒ_f, the NN fits the noisy labels directly. At σ=0.1, errors already exceed the noiseless baseline by 10×.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88036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880360"/>
            <a:ext cx="548640" cy="1691640"/>
          </a:xfrm>
          <a:prstGeom prst="rect">
            <a:avLst/>
          </a:prstGeom>
          <a:solidFill>
            <a:srgbClr val="2129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3447288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43000" y="2990088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Mechanism: physics as regularizer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43000" y="3392424"/>
            <a:ext cx="3291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ℒ_f penalizes solutions that don't satisfy the PDE — effectively ruling out noise-fitting that violates physical law.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288036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2880360"/>
            <a:ext cx="548640" cy="1691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28032" y="3447288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440680" y="2990088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to paper's claim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40680" y="3392424"/>
            <a:ext cx="3291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Raissi et al. claimed PINNs are 'data-efficient.' We show this is partly because physics reduces the solution's sensitivity to label noise.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Work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960120"/>
            <a:ext cx="502920" cy="1188720"/>
          </a:xfrm>
          <a:prstGeom prst="rect">
            <a:avLst/>
          </a:prstGeom>
          <a:solidFill>
            <a:srgbClr val="E87040"/>
          </a:solidFill>
          <a:ln w="12700">
            <a:solidFill>
              <a:srgbClr val="E870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21208" y="1307592"/>
            <a:ext cx="3840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⚠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78992" y="105156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convergence guarantees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78992" y="141732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L-BFGS can get stuck; success depends on initialization and PDE well-posedness.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286000"/>
            <a:ext cx="502920" cy="1188720"/>
          </a:xfrm>
          <a:prstGeom prst="rect">
            <a:avLst/>
          </a:prstGeom>
          <a:solidFill>
            <a:srgbClr val="E87040"/>
          </a:solidFill>
          <a:ln w="12700">
            <a:solidFill>
              <a:srgbClr val="E870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" y="2633472"/>
            <a:ext cx="3840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⚠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78992" y="237744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uncertainty quantification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78992" y="274320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Gaussian processes, PINNs give point estimates only — important for scientific applications.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61188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611880"/>
            <a:ext cx="502920" cy="1188720"/>
          </a:xfrm>
          <a:prstGeom prst="rect">
            <a:avLst/>
          </a:prstGeom>
          <a:solidFill>
            <a:srgbClr val="E87040"/>
          </a:solidFill>
          <a:ln w="12700">
            <a:solidFill>
              <a:srgbClr val="E870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" y="3959352"/>
            <a:ext cx="3840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⚠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78992" y="370332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to higher dimensions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78992" y="406908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Continuous-time models need Nf collocation points growing exponentially in space dimension.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96012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960120"/>
            <a:ext cx="502920" cy="11887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18888" y="1307592"/>
            <a:ext cx="3840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→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376672" y="105156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PINNs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76672" y="141732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dropout / SWAG for uncertainty estimates.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228600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2286000"/>
            <a:ext cx="502920" cy="11887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18888" y="2633472"/>
            <a:ext cx="3840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→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376672" y="237744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Physics-Informed Neural Operators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76672" y="274320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solution operators (DeepONet, FNO) rather than per-PDE solutions.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361188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3611880"/>
            <a:ext cx="502920" cy="11887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18888" y="3959352"/>
            <a:ext cx="3840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→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376672" y="370332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collocation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376672" y="406908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Nf points where the residual is largest — reduce cost significantly.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48006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column: Limitations  ·  Right column: Future directions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286000"/>
            <a:ext cx="4572000" cy="4572000"/>
          </a:xfrm>
          <a:prstGeom prst="ellipse">
            <a:avLst/>
          </a:prstGeom>
          <a:solidFill>
            <a:srgbClr val="1C7293">
              <a:alpha val="18000"/>
            </a:srgbClr>
          </a:solidFill>
          <a:ln w="12700">
            <a:solidFill>
              <a:srgbClr val="1C7293">
                <a:alpha val="1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207008"/>
            <a:ext cx="347472" cy="347472"/>
          </a:xfrm>
          <a:prstGeom prst="rect">
            <a:avLst/>
          </a:prstGeom>
          <a:solidFill>
            <a:srgbClr val="00C5A1"/>
          </a:solidFill>
          <a:ln w="12700">
            <a:solidFill>
              <a:srgbClr val="00C5A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070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51560" y="1188720"/>
            <a:ext cx="6583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replicated 4 experiments from Raissi et al. in PyTorch — errors within 1.5× of paper values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1865376"/>
            <a:ext cx="347472" cy="347472"/>
          </a:xfrm>
          <a:prstGeom prst="rect">
            <a:avLst/>
          </a:prstGeom>
          <a:solidFill>
            <a:srgbClr val="00C5A1"/>
          </a:solidFill>
          <a:ln w="12700">
            <a:solidFill>
              <a:srgbClr val="00C5A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8653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1847088"/>
            <a:ext cx="6583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Ported TF1 → PyTorch: key challenge was create_graph=True in autograd for second-order terms (uₓₓ)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2523744"/>
            <a:ext cx="347472" cy="347472"/>
          </a:xfrm>
          <a:prstGeom prst="rect">
            <a:avLst/>
          </a:prstGeom>
          <a:solidFill>
            <a:srgbClr val="00C5A1"/>
          </a:solidFill>
          <a:ln w="12700">
            <a:solidFill>
              <a:srgbClr val="00C5A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52374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" y="2505456"/>
            <a:ext cx="6583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Discrete-time RK-PINN: q=500 stages achieves single-step accuracy of 10⁻⁹⁷ — unprecedented in classical methods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" y="3182112"/>
            <a:ext cx="347472" cy="347472"/>
          </a:xfrm>
          <a:prstGeom prst="rect">
            <a:avLst/>
          </a:prstGeom>
          <a:solidFill>
            <a:srgbClr val="00C5A1"/>
          </a:solidFill>
          <a:ln w="12700">
            <a:solidFill>
              <a:srgbClr val="00C5A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1821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51560" y="3163824"/>
            <a:ext cx="6583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Extension: physics residual ℒ_f confers meaningful noise robustness beyond plain data fitting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" y="3840480"/>
            <a:ext cx="347472" cy="347472"/>
          </a:xfrm>
          <a:prstGeom prst="rect">
            <a:avLst/>
          </a:prstGeom>
          <a:solidFill>
            <a:srgbClr val="00C5A1"/>
          </a:solidFill>
          <a:ln w="12700">
            <a:solidFill>
              <a:srgbClr val="00C5A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8404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1560" y="3822192"/>
            <a:ext cx="6583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is open on GitHub with modular structure, unit tests, and reproducible experiments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4360" y="4617720"/>
            <a:ext cx="7955280" cy="347472"/>
          </a:xfrm>
          <a:prstGeom prst="rect">
            <a:avLst/>
          </a:prstGeom>
          <a:solidFill>
            <a:srgbClr val="2129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4636008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5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github.com/[username]/pinn-replication  ·  All code, notebooks, and experiments publicly available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Physics-Informed Neural Networks — Replication &amp; Extension</dc:title>
  <dc:subject>PptxGenJS Presentation</dc:subject>
  <dc:creator>Student</dc:creator>
  <cp:lastModifiedBy>Student</cp:lastModifiedBy>
  <cp:revision>1</cp:revision>
  <dcterms:created xsi:type="dcterms:W3CDTF">2026-03-18T04:22:00Z</dcterms:created>
  <dcterms:modified xsi:type="dcterms:W3CDTF">2026-03-18T04:22:00Z</dcterms:modified>
</cp:coreProperties>
</file>